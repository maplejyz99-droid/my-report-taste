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cf6e69596e44b2" /><Relationship Type="http://schemas.openxmlformats.org/officeDocument/2006/relationships/extended-properties" Target="/docProps/app.xml" Id="Rb49cddbc2b0d4cee" /><Relationship Type="http://schemas.openxmlformats.org/officeDocument/2006/relationships/officeDocument" Target="/ppt/presentation.xml" Id="R96044f37e96040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608cc8427f478b"/>
  </p:sldMasterIdLst>
  <p:notesMasterIdLst>
    <p:notesMasterId xmlns:r="http://schemas.openxmlformats.org/officeDocument/2006/relationships" r:id="Rbcc2a6f3f97d4ec5"/>
  </p:notesMasterIdLst>
  <p:sldIdLst>
    <p:sldId xmlns:r="http://schemas.openxmlformats.org/officeDocument/2006/relationships" id="256" r:id="R3ca26f57d01e46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f75700aafc47ae" /><Relationship Type="http://schemas.openxmlformats.org/officeDocument/2006/relationships/slideMaster" Target="/ppt/slideMasters/slideMaster1.xml" Id="Re4608cc8427f478b" /><Relationship Type="http://schemas.openxmlformats.org/officeDocument/2006/relationships/notesMaster" Target="/ppt/notesMasters/notesMaster1.xml" Id="Rbcc2a6f3f97d4ec5" /><Relationship Type="http://schemas.openxmlformats.org/officeDocument/2006/relationships/presProps" Target="/ppt/presProps.xml" Id="R0d3374443e394e23" /><Relationship Type="http://schemas.openxmlformats.org/officeDocument/2006/relationships/tableStyles" Target="/ppt/tableStyles.xml" Id="R178a0c4c1fe24111" /><Relationship Type="http://schemas.openxmlformats.org/officeDocument/2006/relationships/slide" Target="/ppt/slides/slide1.xml" Id="R3ca26f57d01e46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3f420a898343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5268e5acf14ce3" /><Relationship Type="http://schemas.openxmlformats.org/officeDocument/2006/relationships/notesMaster" Target="/ppt/notesMasters/notesMaster1.xml" Id="R1a8ed3f6ca0340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[slide-id:S01] [role:main]</a:t>
            </a:r>
          </a:p>
          <a:p xmlns:a="http://schemas.openxmlformats.org/drawingml/2006/main">
            <a:r>
              <a:t>Preset: author-light; cards: GRD-002 + CLR-002.</a:t>
            </a:r>
          </a:p>
          <a:p xmlns:a="http://schemas.openxmlformats.org/drawingml/2006/main">
            <a:r>
              <a:t>Source: ../synthetic-study/source.json (candidate-filter-fixture-v1). All values are invented teaching data. One content-page example, not evidence of full-deck narrative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3cb885044845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24f591a7cc4d20" /><Relationship Type="http://schemas.openxmlformats.org/officeDocument/2006/relationships/slideLayout" Target="/ppt/slideLayouts/slideLayout1.xml" Id="Ref48854c492545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48854c492545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45ac4921443ed" /><Relationship Type="http://schemas.openxmlformats.org/officeDocument/2006/relationships/notesSlide" Target="/ppt/notesSlides/notesSlide1.xml" Id="Rb1c167a947d94a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B4B93E-AC37-4A22-AB7D-7C738365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06B7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6B74"/>
                </a:solidFill>
                <a:latin typeface="Arial"/>
                <a:ea typeface="Arial"/>
                <a:cs typeface="Arial"/>
              </a:rPr>
              <a:t>BRIGHT BLUE RESEARCH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7F81D-0C7B-4064-97F7-D195B5EC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3425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0B6FCA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0B6FCA"/>
                </a:solidFill>
                <a:latin typeface="Arial"/>
                <a:ea typeface="Arial"/>
                <a:cs typeface="Arial"/>
              </a:rPr>
              <a:t>The compact filter improves both fixture metrics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DDA80-8870-49CE-BF51-83DC5AFA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F52D33-18E9-4967-BC1D-2857799B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06B7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6B74"/>
                </a:solidFill>
                <a:latin typeface="Arial"/>
                <a:ea typeface="Arial"/>
                <a:cs typeface="Arial"/>
              </a:rPr>
              <a:t>SYNTHETIC TEACHING DATA  /  candidate-filter-fixture-v1  /  No real benchmark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ACDEB2-70D1-4720-B59C-86209DD5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191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0B6FCA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B6FCA"/>
                </a:solidFill>
                <a:latin typeface="Arial"/>
                <a:ea typeface="Arial"/>
                <a:cs typeface="Arial"/>
              </a:rPr>
              <a:t>+2.0 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79272-5A30-4007-B388-8774BD0F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289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43A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43A40"/>
                </a:solidFill>
                <a:latin typeface="Arial"/>
                <a:ea typeface="Arial"/>
                <a:cs typeface="Arial"/>
              </a:rPr>
              <a:t>Accuracy vs.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F70BA-BF4A-42A0-B2FD-000E76F6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24050"/>
            <a:ext cx="523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343A40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343A40"/>
                </a:solidFill>
                <a:latin typeface="Arial"/>
                <a:ea typeface="Arial"/>
                <a:cs typeface="Arial"/>
              </a:rPr>
              <a:t>35 ms less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3DBD5-A0B3-4DAF-8F19-2BB5F950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289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43A4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343A40"/>
                </a:solidFill>
                <a:latin typeface="Arial"/>
                <a:ea typeface="Arial"/>
                <a:cs typeface="Arial"/>
              </a:rPr>
              <a:t>Time per query vs. baseline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9600" y="3705225"/>
          <a:ext xmlns:a="http://schemas.openxmlformats.org/drawingml/2006/main" cx="109728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28032"/>
                <a:gridCol w="3072384"/>
                <a:gridCol w="3072384"/>
              </a:tblGrid>
              <a:tr h="55721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B6FCA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171450" marR="133350" marT="152400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B6FCA"/>
                          </a:solidFill>
                          <a:latin typeface="Arial"/>
                          <a:ea typeface="Arial"/>
                          <a:cs typeface="Arial"/>
                        </a:rPr>
                        <a:t>Accuracy (%)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B6FCA"/>
                          </a:solidFill>
                          <a:latin typeface="Arial"/>
                          <a:ea typeface="Arial"/>
                          <a:cs typeface="Arial"/>
                        </a:rPr>
                        <a:t>Latency (ms)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T w="953">
                      <a:solidFill>
                        <a:srgbClr val="FFFFFF"/>
                      </a:solidFill>
                    </a:lnT>
                    <a:lnB w="953">
                      <a:solidFill>
                        <a:srgbClr val="FFFFFF"/>
                      </a:solidFill>
                    </a:lnB>
                    <a:solidFill>
                      <a:srgbClr val="EFF6FC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3A40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171450" marR="133350" marT="152400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3A40"/>
                          </a:solidFill>
                          <a:latin typeface="Arial"/>
                          <a:ea typeface="Arial"/>
                          <a:cs typeface="Arial"/>
                        </a:rPr>
                        <a:t>84.0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3A40"/>
                          </a:solidFill>
                          <a:latin typeface="Arial"/>
                          <a:ea typeface="Arial"/>
                          <a:cs typeface="Arial"/>
                        </a:rPr>
                        <a:t>120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6FCA"/>
                          </a:solidFill>
                          <a:latin typeface="Arial"/>
                          <a:ea typeface="Arial"/>
                          <a:cs typeface="Arial"/>
                        </a:rPr>
                        <a:t>Compact filter</a:t>
                      </a:r>
                    </a:p>
                  </a:txBody>
                  <a:tcPr marL="171450" marR="133350" marT="152400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6FCA"/>
                          </a:solidFill>
                          <a:latin typeface="Arial"/>
                          <a:ea typeface="Arial"/>
                          <a:cs typeface="Arial"/>
                        </a:rPr>
                        <a:t>86.0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EF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B6FCA"/>
                          </a:solidFill>
                          <a:latin typeface="Arial"/>
                          <a:ea typeface="Arial"/>
                          <a:cs typeface="Arial"/>
                        </a:rPr>
                        <a:t>85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EFF6FC"/>
                    </a:solidFill>
                  </a:tcPr>
                </a:tc>
              </a:tr>
              <a:tr h="557213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3A40"/>
                          </a:solidFill>
                          <a:latin typeface="Arial"/>
                          <a:ea typeface="Arial"/>
                          <a:cs typeface="Arial"/>
                        </a:rPr>
                        <a:t>Large filter</a:t>
                      </a:r>
                    </a:p>
                  </a:txBody>
                  <a:tcPr marL="171450" marR="133350" marT="152400" marB="114300">
                    <a:lnL w="953">
                      <a:solidFill>
                        <a:srgbClr val="FFFFFF"/>
                      </a:solidFill>
                    </a:lnL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3A40"/>
                          </a:solidFill>
                          <a:latin typeface="Arial"/>
                          <a:ea typeface="Arial"/>
                          <a:cs typeface="Arial"/>
                        </a:rPr>
                        <a:t>86.5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343A40"/>
                          </a:solidFill>
                          <a:latin typeface="Arial"/>
                          <a:ea typeface="Arial"/>
                          <a:cs typeface="Arial"/>
                        </a:rPr>
                        <a:t>160</a:t>
                      </a:r>
                    </a:p>
                  </a:txBody>
                  <a:tcPr marL="171450" marR="133350" marT="152400" marB="114300">
                    <a:lnR w="953">
                      <a:solidFill>
                        <a:srgbClr val="FFFFFF"/>
                      </a:solidFill>
                    </a:lnR>
                    <a:lnB w="953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F5D2C-7631-4D94-BB56-DEF348E8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2438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AA14C-3C1B-4B30-8DBA-9E96E61E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B722B-B6F3-46BD-95B7-B4A27BA4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6863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8"/>
            </a:solidFill>
          </a:ln>
        </p:spPr>
      </p:sp>
    </p:spTree>
    <p:extLst>
      <p:ext uri="{BB962C8B-B14F-4D97-AF65-F5344CB8AC3E}">
        <p14:creationId xmlns:p14="http://schemas.microsoft.com/office/powerpoint/2010/main" val="1940541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2026-10-07T09:44:39.6890000Z</dcterms:created>
  <dcterms:modified xsi:type="dcterms:W3CDTF">2026-10-07T09:44:39.6890000Z</dcterms:modified>
</coreProperties>
</file>