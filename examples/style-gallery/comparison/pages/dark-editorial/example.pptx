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2254b523ad408f" /><Relationship Type="http://schemas.openxmlformats.org/officeDocument/2006/relationships/extended-properties" Target="/docProps/app.xml" Id="Redca7f10e77946b4" /><Relationship Type="http://schemas.openxmlformats.org/officeDocument/2006/relationships/officeDocument" Target="/ppt/presentation.xml" Id="Rae96adf2cfb74b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2aebe340c84005"/>
  </p:sldMasterIdLst>
  <p:notesMasterIdLst>
    <p:notesMasterId xmlns:r="http://schemas.openxmlformats.org/officeDocument/2006/relationships" r:id="Recd83aa3d82e498f"/>
  </p:notesMasterIdLst>
  <p:sldIdLst>
    <p:sldId xmlns:r="http://schemas.openxmlformats.org/officeDocument/2006/relationships" id="256" r:id="Rfa5f4eecc0d44023"/>
    <p:sldId xmlns:r="http://schemas.openxmlformats.org/officeDocument/2006/relationships" id="257" r:id="Rf21c1bbd82904d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0a01d83b8f498a" /><Relationship Type="http://schemas.openxmlformats.org/officeDocument/2006/relationships/slideMaster" Target="/ppt/slideMasters/slideMaster1.xml" Id="Ra82aebe340c84005" /><Relationship Type="http://schemas.openxmlformats.org/officeDocument/2006/relationships/notesMaster" Target="/ppt/notesMasters/notesMaster1.xml" Id="Recd83aa3d82e498f" /><Relationship Type="http://schemas.openxmlformats.org/officeDocument/2006/relationships/presProps" Target="/ppt/presProps.xml" Id="R54abb1e04e954995" /><Relationship Type="http://schemas.openxmlformats.org/officeDocument/2006/relationships/tableStyles" Target="/ppt/tableStyles.xml" Id="Rfcc996877c444cf2" /><Relationship Type="http://schemas.openxmlformats.org/officeDocument/2006/relationships/slide" Target="/ppt/slides/slide1.xml" Id="Rfa5f4eecc0d44023" /><Relationship Type="http://schemas.openxmlformats.org/officeDocument/2006/relationships/slide" Target="/ppt/slides/slide2.xml" Id="Rf21c1bbd8290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7bcc9a3dc2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fe27763c954998" /><Relationship Type="http://schemas.openxmlformats.org/officeDocument/2006/relationships/notesMaster" Target="/ppt/notesMasters/notesMaster1.xml" Id="Rd75da3ebaddb45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72d03022ba44f3" /><Relationship Type="http://schemas.openxmlformats.org/officeDocument/2006/relationships/notesMaster" Target="/ppt/notesMasters/notesMaster1.xml" Id="Rc45489c4b90c40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[slide-id:S01]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dark-editorial. Presentation-only cards: GRD-003 + CLR-003.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[slide-id:S02] [role:main]</a:t>
            </a:r>
          </a:p>
          <a:p xmlns:a="http://schemas.openxmlformats.org/drawingml/2006/main">
            <a:r>
              <a:t>Source: candidate-filter-fixture-v1, original synthetic teaching values.</a:t>
            </a:r>
          </a:p>
          <a:p xmlns:a="http://schemas.openxmlformats.org/drawingml/2006/main">
            <a:r>
              <a:t>Display candidate: dark-editorial. Presentation-only cards: GRD-003 + CLR-003.</a:t>
            </a:r>
          </a:p>
          <a:p xmlns:a="http://schemas.openxmlformats.org/drawingml/2006/main">
            <a:r>
              <a:t>Identical required copy, table rows, mechanism nodes and claims across candidates. No real benchmark or full-theme validation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f1af977b964e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162817bb1241ad" /><Relationship Type="http://schemas.openxmlformats.org/officeDocument/2006/relationships/slideLayout" Target="/ppt/slideLayouts/slideLayout1.xml" Id="R841b6b4b6aae44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1b6b4b6aae44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fbfc799e94601" /><Relationship Type="http://schemas.openxmlformats.org/officeDocument/2006/relationships/notesSlide" Target="/ppt/notesSlides/notesSlide1.xml" Id="R1d765b9fa2ae4e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f7cf08b4b4883" /><Relationship Type="http://schemas.openxmlformats.org/officeDocument/2006/relationships/notesSlide" Target="/ppt/notesSlides/notesSlide2.xml" Id="Re74f64c2e7eb468a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F4B"/>
            </a:gs>
            <a:gs pos="48000">
              <a:srgbClr val="071F29"/>
            </a:gs>
            <a:gs pos="100000">
              <a:srgbClr val="01080C"/>
            </a:gs>
          </a:gsLst>
          <a:path path="shape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71E0B-D993-40D1-B5A9-689C3309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Compact filtering improves both fixture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13A7B-A9AD-4EFF-83CA-5B6118E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Compact vs.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5DCD9-BEB0-4408-9DF3-CE7E0CF2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2.0 pp higher accuracy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41AB2-1D74-45C5-9E86-195709BF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3619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35 ms less per query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495800" y="2247900"/>
          <a:ext xmlns:a="http://schemas.openxmlformats.org/drawingml/2006/main" cx="70866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34640"/>
                <a:gridCol w="1913382"/>
                <a:gridCol w="2338578"/>
              </a:tblGrid>
              <a:tr h="7572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Setting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T w="953">
                      <a:solidFill>
                        <a:srgbClr val="1B313A"/>
                      </a:solidFill>
                    </a:lnT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Accuracy (%)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T w="953">
                      <a:solidFill>
                        <a:srgbClr val="1B313A"/>
                      </a:solidFill>
                    </a:lnT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Latency (ms/query)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T w="953">
                      <a:solidFill>
                        <a:srgbClr val="1B313A"/>
                      </a:solidFill>
                    </a:lnT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84.0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120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Compact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86.0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  <a:tr h="7572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Large filter</a:t>
                      </a:r>
                    </a:p>
                  </a:txBody>
                  <a:tcPr marL="152400" marR="114300" marT="142875" marB="114300">
                    <a:lnL w="953">
                      <a:solidFill>
                        <a:srgbClr val="1B313A"/>
                      </a:solidFill>
                    </a:lnL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86.5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E7E9EA"/>
                          </a:solidFill>
                          <a:latin typeface="Arial"/>
                          <a:ea typeface="Arial"/>
                          <a:cs typeface="Arial"/>
                        </a:rPr>
                        <a:t>160</a:t>
                      </a:r>
                    </a:p>
                  </a:txBody>
                  <a:tcPr marL="152400" marR="114300" marT="142875" marB="114300">
                    <a:lnR w="953">
                      <a:solidFill>
                        <a:srgbClr val="1B313A"/>
                      </a:solidFill>
                    </a:lnR>
                    <a:lnB w="953">
                      <a:solidFill>
                        <a:srgbClr val="1B313A"/>
                      </a:solidFill>
                    </a:lnB>
                    <a:solidFill>
                      <a:srgbClr val="1B313A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C344B-76D7-4FB5-B2F7-7A742116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5138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6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E05AE-B605-438E-826C-E372087D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62375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73D2C-6803-45A1-A7B9-B68C357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19613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361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71EF3-2791-4BDA-95B5-38623F92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No repeated trials or deployment measurements.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67ECF-C8BB-4AE5-BB72-6F1A5F86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78896458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173F4B"/>
            </a:gs>
            <a:gs pos="48000">
              <a:srgbClr val="071F29"/>
            </a:gs>
            <a:gs pos="100000">
              <a:srgbClr val="01080C"/>
            </a:gs>
          </a:gsLst>
          <a:path path="shape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79D21-6FDF-46A6-888B-9CF98E41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Candidate filtering before ranking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BFED2-55D1-4FFE-BDF1-48CA76E0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19325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13A"/>
          </a:solidFill>
          <a:ln xmlns:a="http://schemas.openxmlformats.org/drawingml/2006/main" w="9525">
            <a:solidFill>
              <a:srgbClr val="53616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0D8B6-8F5A-4287-ABDF-BCED3B3E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9EA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EA90C-12A3-4914-BCD8-2E06CA77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13A"/>
          </a:solidFill>
          <a:ln xmlns:a="http://schemas.openxmlformats.org/drawingml/2006/main" w="9525">
            <a:solidFill>
              <a:srgbClr val="53616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E9A60-6362-4814-B6B4-E380B98F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Candidate filter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9BDDD-F4FC-4015-832B-A5FD2CA6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13A"/>
          </a:solidFill>
          <a:ln xmlns:a="http://schemas.openxmlformats.org/drawingml/2006/main" w="9525">
            <a:solidFill>
              <a:srgbClr val="53616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F6C5A-7384-413E-AB2B-F40425FF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9EA"/>
                </a:solidFill>
                <a:latin typeface="Arial"/>
                <a:ea typeface="Arial"/>
                <a:cs typeface="Arial"/>
              </a:rPr>
              <a:t>Ranker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B76ED-EC68-41D8-8680-FBE954A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313A"/>
          </a:solidFill>
          <a:ln xmlns:a="http://schemas.openxmlformats.org/drawingml/2006/main" w="9525">
            <a:solidFill>
              <a:srgbClr val="53616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272798-3008-4709-B752-A156B3C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533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E9EA"/>
                </a:solidFill>
                <a:latin typeface="Arial"/>
                <a:ea typeface="Arial"/>
                <a:cs typeface="Arial"/>
              </a:rPr>
              <a:t>Top result</a:t>
            </a:r>
          </a:p>
        </p:txBody>
      </p:sp>
      <p:cxnSp>
        <p:nvCxnSpPr>
          <p:cNvPr id="27" name=""/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1990725" y="28098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7E9EA"/>
            </a:solidFill>
            <a:prstDash val="solid"/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1990725" y="362902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7E9EA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990725" y="4448175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7E9EA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760D89-E1ED-4393-A437-D86F7497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76575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Select a subset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53904-149F-4789-B02C-F0055630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704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Order that subset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B3D1E2-115F-48BA-9177-3026C0F2A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86325"/>
            <a:ext cx="704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7E9E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7E9EA"/>
                </a:solidFill>
                <a:latin typeface="Arial"/>
                <a:ea typeface="Arial"/>
                <a:cs typeface="Arial"/>
              </a:rPr>
              <a:t>The ranker cannot recover candidates removed by the filter.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7F44B-E1A3-487A-AD36-AAB4EF95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886450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Candidate recall and internal stage costs remain unmeasured.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17E92-ABF8-4726-8B98-C32CEF8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5AFB2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5AFB2"/>
                </a:solidFill>
                <a:latin typeface="Arial"/>
                <a:ea typeface="Arial"/>
                <a:cs typeface="Arial"/>
              </a:rPr>
              <a:t>Source: candidate-filter-fixture-v1. Synthetic teaching data.</a:t>
            </a:r>
          </a:p>
        </p:txBody>
      </p:sp>
    </p:spTree>
    <p:extLst>
      <p:ext uri="{BB962C8B-B14F-4D97-AF65-F5344CB8AC3E}">
        <p14:creationId xmlns:p14="http://schemas.microsoft.com/office/powerpoint/2010/main" val="6001578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2026-10-07T14:55:46.7150000Z</dcterms:created>
  <dcterms:modified xsi:type="dcterms:W3CDTF">2026-10-07T14:55:46.7150000Z</dcterms:modified>
</coreProperties>
</file>