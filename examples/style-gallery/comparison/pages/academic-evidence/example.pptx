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c58b8aa9d64dce" /><Relationship Type="http://schemas.openxmlformats.org/officeDocument/2006/relationships/extended-properties" Target="/docProps/app.xml" Id="R4ce4f374dc6c4852" /><Relationship Type="http://schemas.openxmlformats.org/officeDocument/2006/relationships/officeDocument" Target="/ppt/presentation.xml" Id="Re15074941a214f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5e081c064e4722"/>
  </p:sldMasterIdLst>
  <p:notesMasterIdLst>
    <p:notesMasterId xmlns:r="http://schemas.openxmlformats.org/officeDocument/2006/relationships" r:id="R65ee4ffb34c54195"/>
  </p:notesMasterIdLst>
  <p:sldIdLst>
    <p:sldId xmlns:r="http://schemas.openxmlformats.org/officeDocument/2006/relationships" id="256" r:id="R25b67c9c7d09420e"/>
    <p:sldId xmlns:r="http://schemas.openxmlformats.org/officeDocument/2006/relationships" id="257" r:id="R55ab517c63ef49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077c28dcf94174" /><Relationship Type="http://schemas.openxmlformats.org/officeDocument/2006/relationships/slideMaster" Target="/ppt/slideMasters/slideMaster1.xml" Id="R475e081c064e4722" /><Relationship Type="http://schemas.openxmlformats.org/officeDocument/2006/relationships/notesMaster" Target="/ppt/notesMasters/notesMaster1.xml" Id="R65ee4ffb34c54195" /><Relationship Type="http://schemas.openxmlformats.org/officeDocument/2006/relationships/presProps" Target="/ppt/presProps.xml" Id="R582b6f9830d94627" /><Relationship Type="http://schemas.openxmlformats.org/officeDocument/2006/relationships/tableStyles" Target="/ppt/tableStyles.xml" Id="R50132e7c3f894a71" /><Relationship Type="http://schemas.openxmlformats.org/officeDocument/2006/relationships/slide" Target="/ppt/slides/slide1.xml" Id="R25b67c9c7d09420e" /><Relationship Type="http://schemas.openxmlformats.org/officeDocument/2006/relationships/slide" Target="/ppt/slides/slide2.xml" Id="R55ab517c63ef49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7a98588ce049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67f7b8cb2e442b" /><Relationship Type="http://schemas.openxmlformats.org/officeDocument/2006/relationships/notesMaster" Target="/ppt/notesMasters/notesMaster1.xml" Id="R278d78f68fcd44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55a13880134d37" /><Relationship Type="http://schemas.openxmlformats.org/officeDocument/2006/relationships/notesMaster" Target="/ppt/notesMasters/notesMaster1.xml" Id="R212b58d9fa7045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[slide-id:S01] [role:main]</a:t>
            </a:r>
          </a:p>
          <a:p xmlns:a="http://schemas.openxmlformats.org/drawingml/2006/main">
            <a:r>
              <a:t>Source: candidate-filter-fixture-v1, original synthetic teaching values.</a:t>
            </a:r>
          </a:p>
          <a:p xmlns:a="http://schemas.openxmlformats.org/drawingml/2006/main">
            <a:r>
              <a:t>Display candidate: academic-evidence. Presentation-only cards: GRD-010 + CLR-010.</a:t>
            </a:r>
          </a:p>
          <a:p xmlns:a="http://schemas.openxmlformats.org/drawingml/2006/main">
            <a:r>
              <a:t>Identical required copy, table rows, mechanism nodes and claims across candidates. No real benchmark or full-theme validation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[slide-id:S02] [role:main]</a:t>
            </a:r>
          </a:p>
          <a:p xmlns:a="http://schemas.openxmlformats.org/drawingml/2006/main">
            <a:r>
              <a:t>Source: candidate-filter-fixture-v1, original synthetic teaching values.</a:t>
            </a:r>
          </a:p>
          <a:p xmlns:a="http://schemas.openxmlformats.org/drawingml/2006/main">
            <a:r>
              <a:t>Display candidate: academic-evidence. Presentation-only cards: GRD-010 + CLR-010.</a:t>
            </a:r>
          </a:p>
          <a:p xmlns:a="http://schemas.openxmlformats.org/drawingml/2006/main">
            <a:r>
              <a:t>Identical required copy, table rows, mechanism nodes and claims across candidates. No real benchmark or full-theme validation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97a9374f614e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5a1a6ba5f74574" /><Relationship Type="http://schemas.openxmlformats.org/officeDocument/2006/relationships/slideLayout" Target="/ppt/slideLayouts/slideLayout1.xml" Id="R7e146ede8e6648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146ede8e6648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d5c95c28048aa" /><Relationship Type="http://schemas.openxmlformats.org/officeDocument/2006/relationships/notesSlide" Target="/ppt/notesSlides/notesSlide1.xml" Id="Rb305c52bc1774c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f3f9dd1604fc7" /><Relationship Type="http://schemas.openxmlformats.org/officeDocument/2006/relationships/notesSlide" Target="/ppt/notesSlides/notesSlide2.xml" Id="R60f49a4075dc4f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698C9-7AF4-4C7A-B8B8-C06C4702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6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6A73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9A819-B3BA-45B0-9524-849720A2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D1E2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D1E2F"/>
                </a:solidFill>
                <a:latin typeface="Arial"/>
                <a:ea typeface="Arial"/>
                <a:cs typeface="Arial"/>
              </a:rPr>
              <a:t>Compact filtering improves both fixture metrics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F78DD-035A-44A7-899A-7B1A2287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3"/>
            </a:solidFill>
          </a:ln>
        </p:spPr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228850"/>
          <a:ext xmlns:a="http://schemas.openxmlformats.org/drawingml/2006/main" cx="7239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95600"/>
                <a:gridCol w="1954530"/>
                <a:gridCol w="2388870"/>
              </a:tblGrid>
              <a:tr h="7143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7D1E2F"/>
                          </a:solidFill>
                          <a:latin typeface="Arial"/>
                          <a:ea typeface="Arial"/>
                          <a:cs typeface="Arial"/>
                        </a:rPr>
                        <a:t>Setting</a:t>
                      </a:r>
                    </a:p>
                  </a:txBody>
                  <a:tcPr marL="152400" marR="114300" marT="142875" marB="114300">
                    <a:lnL w="953">
                      <a:solidFill>
                        <a:srgbClr val="FFFFFF"/>
                      </a:solidFill>
                    </a:lnL>
                    <a:lnR w="953">
                      <a:solidFill>
                        <a:srgbClr val="FFFFFF"/>
                      </a:solidFill>
                    </a:lnR>
                    <a:lnT w="953">
                      <a:solidFill>
                        <a:srgbClr val="FFFFFF"/>
                      </a:solidFill>
                    </a:lnT>
                    <a:lnB w="953">
                      <a:solidFill>
                        <a:srgbClr val="FFFFFF"/>
                      </a:solidFill>
                    </a:lnB>
                    <a:solidFill>
                      <a:srgbClr val="FAE9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7D1E2F"/>
                          </a:solidFill>
                          <a:latin typeface="Arial"/>
                          <a:ea typeface="Arial"/>
                          <a:cs typeface="Arial"/>
                        </a:rPr>
                        <a:t>Accuracy (%)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T w="953">
                      <a:solidFill>
                        <a:srgbClr val="FFFFFF"/>
                      </a:solidFill>
                    </a:lnT>
                    <a:lnB w="953">
                      <a:solidFill>
                        <a:srgbClr val="FFFFFF"/>
                      </a:solidFill>
                    </a:lnB>
                    <a:solidFill>
                      <a:srgbClr val="FAE9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7D1E2F"/>
                          </a:solidFill>
                          <a:latin typeface="Arial"/>
                          <a:ea typeface="Arial"/>
                          <a:cs typeface="Arial"/>
                        </a:rPr>
                        <a:t>Latency (ms/query)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T w="953">
                      <a:solidFill>
                        <a:srgbClr val="FFFFFF"/>
                      </a:solidFill>
                    </a:lnT>
                    <a:lnB w="953">
                      <a:solidFill>
                        <a:srgbClr val="FFFFFF"/>
                      </a:solidFill>
                    </a:lnB>
                    <a:solidFill>
                      <a:srgbClr val="FAE9EC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F2430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marL="152400" marR="114300" marT="142875" marB="114300">
                    <a:lnL w="953">
                      <a:solidFill>
                        <a:srgbClr val="FFFFFF"/>
                      </a:solidFill>
                    </a:lnL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F2430"/>
                          </a:solidFill>
                          <a:latin typeface="Arial"/>
                          <a:ea typeface="Arial"/>
                          <a:cs typeface="Arial"/>
                        </a:rPr>
                        <a:t>84.0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F2430"/>
                          </a:solidFill>
                          <a:latin typeface="Arial"/>
                          <a:ea typeface="Arial"/>
                          <a:cs typeface="Arial"/>
                        </a:rPr>
                        <a:t>120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7D1E2F"/>
                          </a:solidFill>
                          <a:latin typeface="Arial"/>
                          <a:ea typeface="Arial"/>
                          <a:cs typeface="Arial"/>
                        </a:rPr>
                        <a:t>Compact filter</a:t>
                      </a:r>
                    </a:p>
                  </a:txBody>
                  <a:tcPr marL="152400" marR="114300" marT="142875" marB="114300">
                    <a:lnL w="953">
                      <a:solidFill>
                        <a:srgbClr val="FFFFFF"/>
                      </a:solidFill>
                    </a:lnL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AE9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7D1E2F"/>
                          </a:solidFill>
                          <a:latin typeface="Arial"/>
                          <a:ea typeface="Arial"/>
                          <a:cs typeface="Arial"/>
                        </a:rPr>
                        <a:t>86.0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AE9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7D1E2F"/>
                          </a:solidFill>
                          <a:latin typeface="Arial"/>
                          <a:ea typeface="Arial"/>
                          <a:cs typeface="Arial"/>
                        </a:rPr>
                        <a:t>85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AE9EC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F2430"/>
                          </a:solidFill>
                          <a:latin typeface="Arial"/>
                          <a:ea typeface="Arial"/>
                          <a:cs typeface="Arial"/>
                        </a:rPr>
                        <a:t>Large filter</a:t>
                      </a:r>
                    </a:p>
                  </a:txBody>
                  <a:tcPr marL="152400" marR="114300" marT="142875" marB="114300">
                    <a:lnL w="953">
                      <a:solidFill>
                        <a:srgbClr val="FFFFFF"/>
                      </a:solidFill>
                    </a:lnL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F2430"/>
                          </a:solidFill>
                          <a:latin typeface="Arial"/>
                          <a:ea typeface="Arial"/>
                          <a:cs typeface="Arial"/>
                        </a:rPr>
                        <a:t>86.5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F2430"/>
                          </a:solidFill>
                          <a:latin typeface="Arial"/>
                          <a:ea typeface="Arial"/>
                          <a:cs typeface="Arial"/>
                        </a:rPr>
                        <a:t>160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8FBDF9-703C-48E6-A2DF-A335F4E9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693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AAA09-A801-44A0-8DC9-19B26A65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693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C4719-D653-4F50-944A-4C52C495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71975"/>
            <a:ext cx="693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B7172-2382-4D0E-8740-A99FF054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002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6A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6A73"/>
                </a:solidFill>
                <a:latin typeface="Arial"/>
                <a:ea typeface="Arial"/>
                <a:cs typeface="Arial"/>
              </a:rPr>
              <a:t>Compact vs.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B55CD-0B29-4003-8045-4EC3F635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956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7D1E2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7D1E2F"/>
                </a:solidFill>
                <a:latin typeface="Arial"/>
                <a:ea typeface="Arial"/>
                <a:cs typeface="Arial"/>
              </a:rPr>
              <a:t>2.0 pp higher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5850F7-1756-4745-A5D1-D2F05F4B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100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F243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2430"/>
                </a:solidFill>
                <a:latin typeface="Arial"/>
                <a:ea typeface="Arial"/>
                <a:cs typeface="Arial"/>
              </a:rPr>
              <a:t>35 ms less per query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42DE42-CF89-46C1-A591-7E0209D1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F24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F2430"/>
                </a:solidFill>
                <a:latin typeface="Arial"/>
                <a:ea typeface="Arial"/>
                <a:cs typeface="Arial"/>
              </a:rPr>
              <a:t>No repeated trials or deployment measurements.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0553B9-452B-4D4A-9478-1004BF68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77C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77CC"/>
                </a:solidFill>
                <a:latin typeface="Arial"/>
                <a:ea typeface="Arial"/>
                <a:cs typeface="Arial"/>
              </a:rPr>
              <a:t>Source: candidate-filter-fixture-v1. Synthetic teaching data.</a:t>
            </a:r>
          </a:p>
        </p:txBody>
      </p:sp>
    </p:spTree>
    <p:extLst>
      <p:ext uri="{BB962C8B-B14F-4D97-AF65-F5344CB8AC3E}">
        <p14:creationId xmlns:p14="http://schemas.microsoft.com/office/powerpoint/2010/main" val="17419585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152182-C498-4432-849B-08F60178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6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6A73"/>
                </a:solidFill>
                <a:latin typeface="Arial"/>
                <a:ea typeface="Arial"/>
                <a:cs typeface="Arial"/>
              </a:rPr>
              <a:t>MECHANISM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ACD85-4BDB-4112-A384-9CA9E642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D1E2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D1E2F"/>
                </a:solidFill>
                <a:latin typeface="Arial"/>
                <a:ea typeface="Arial"/>
                <a:cs typeface="Arial"/>
              </a:rPr>
              <a:t>Candidate filtering before ranking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EBDDF-736B-4864-B3AA-C5F781BF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A160A-8851-43C3-B7C7-3778C3A3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500313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410D4-47A5-45AC-A565-6AA74EB9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22717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24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F2430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C9B46C-E70D-4742-876C-FAB496F5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343150"/>
            <a:ext cx="2500313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9EC"/>
          </a:solidFill>
          <a:ln xmlns:a="http://schemas.openxmlformats.org/drawingml/2006/main" w="9525">
            <a:solidFill>
              <a:srgbClr val="D9DCE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2F5C3-01A7-49AB-9996-C58D13C6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2638425"/>
            <a:ext cx="22717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D1E2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D1E2F"/>
                </a:solidFill>
                <a:latin typeface="Arial"/>
                <a:ea typeface="Arial"/>
                <a:cs typeface="Arial"/>
              </a:rPr>
              <a:t>Candidate filter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ACB01-A247-4183-AF62-65BCA457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343150"/>
            <a:ext cx="2500313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82587-C245-4F54-9E92-08E84592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638425"/>
            <a:ext cx="22717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24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F2430"/>
                </a:solidFill>
                <a:latin typeface="Arial"/>
                <a:ea typeface="Arial"/>
                <a:cs typeface="Arial"/>
              </a:rPr>
              <a:t>Ranker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81780D-2EF0-464A-B468-A0260F2D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343150"/>
            <a:ext cx="2500313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84C8A1-555E-48A7-903F-B8F048C1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2638425"/>
            <a:ext cx="22717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24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F2430"/>
                </a:solidFill>
                <a:latin typeface="Arial"/>
                <a:ea typeface="Arial"/>
                <a:cs typeface="Arial"/>
              </a:rPr>
              <a:t>Top result</a:t>
            </a:r>
          </a:p>
        </p:txBody>
      </p:sp>
      <p:cxnSp>
        <p:nvCxnSpPr>
          <p:cNvPr id="32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09913" y="28194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1E2F"/>
            </a:solidFill>
            <a:prstDash val="solid"/>
            <a:tailEnd type="arrow" w="med" len="med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34076" y="2819400"/>
            <a:ext cx="3238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1E2F"/>
            </a:solidFill>
            <a:prstDash val="solid"/>
            <a:tailEnd type="arrow" w="med" len="med"/>
          </a:ln>
        </p:spPr>
      </p:cxn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58238" y="28194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1E2F"/>
            </a:solidFill>
            <a:prstDash val="solid"/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51341B-C082-49A2-AF86-935BF7B1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766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D1E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D1E2F"/>
                </a:solidFill>
                <a:latin typeface="Arial"/>
                <a:ea typeface="Arial"/>
                <a:cs typeface="Arial"/>
              </a:rPr>
              <a:t>Select a subset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27E530-BEF6-4625-B544-B4088D61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766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243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2430"/>
                </a:solidFill>
                <a:latin typeface="Arial"/>
                <a:ea typeface="Arial"/>
                <a:cs typeface="Arial"/>
              </a:rPr>
              <a:t>Order that subset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2C4180-858A-480C-BB56-F0AB098B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213681-F77F-464A-9647-AF62C8A3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F24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F2430"/>
                </a:solidFill>
                <a:latin typeface="Arial"/>
                <a:ea typeface="Arial"/>
                <a:cs typeface="Arial"/>
              </a:rPr>
              <a:t>The ranker cannot recover candidates removed by the filter.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1B2713-0724-427A-B8BB-A122E122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6A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A73"/>
                </a:solidFill>
                <a:latin typeface="Arial"/>
                <a:ea typeface="Arial"/>
                <a:cs typeface="Arial"/>
              </a:rPr>
              <a:t>Candidate recall and internal stage costs remain unmeasured.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DF1E15-C012-4282-AC6E-73F6E581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77C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77CC"/>
                </a:solidFill>
                <a:latin typeface="Arial"/>
                <a:ea typeface="Arial"/>
                <a:cs typeface="Arial"/>
              </a:rPr>
              <a:t>Source: candidate-filter-fixture-v1. Synthetic teaching data.</a:t>
            </a:r>
          </a:p>
        </p:txBody>
      </p:sp>
    </p:spTree>
    <p:extLst>
      <p:ext uri="{BB962C8B-B14F-4D97-AF65-F5344CB8AC3E}">
        <p14:creationId xmlns:p14="http://schemas.microsoft.com/office/powerpoint/2010/main" val="9943240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2026-10-07T14:55:45.2020000Z</dcterms:created>
  <dcterms:modified xsi:type="dcterms:W3CDTF">2026-10-07T14:55:45.2020000Z</dcterms:modified>
</coreProperties>
</file>